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9" r:id="rId5"/>
    <p:sldId id="258" r:id="rId6"/>
    <p:sldId id="262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C1AE6-E085-4E0B-96F8-00ACF073E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47DCA-6B72-4AF1-AF19-DD150B880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21E98-D1FD-494F-9295-F0D052199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1138E-74FF-41E0-819A-E7EBF9B25EF1}" type="datetimeFigureOut">
              <a:rPr lang="pt-BR" smtClean="0"/>
              <a:t>20/08/2019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518F6-5E9A-413F-BBB3-23DA7FA71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0F04F-5B3A-4018-9C38-B0B4EC7E3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9D60-07A1-432A-AD3E-1015B9504FF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6170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8837-1A38-43A8-8D6A-39618A429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01E3A-9911-421C-8EC7-1F7BA910B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CFB84-6875-4115-917C-0B6CECC3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1138E-74FF-41E0-819A-E7EBF9B25EF1}" type="datetimeFigureOut">
              <a:rPr lang="pt-BR" smtClean="0"/>
              <a:t>20/08/2019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1B576-8C80-410C-A5EA-4D9B362BD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BAD39-968E-4103-8806-579E3323E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9D60-07A1-432A-AD3E-1015B9504FF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1487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D5D33-50EB-45C3-98CB-E94E7337F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F1861-F666-422E-82C2-56359D03F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55A6E-D971-43A9-8093-E5B02F095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1138E-74FF-41E0-819A-E7EBF9B25EF1}" type="datetimeFigureOut">
              <a:rPr lang="pt-BR" smtClean="0"/>
              <a:t>20/08/2019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6F483-D8DC-4F42-AD53-19C55A681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9C88E-5EBE-4479-BB88-228C0E9E2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9D60-07A1-432A-AD3E-1015B9504FF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0101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2B353-0149-4E0C-97CC-3DA46A49B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F7E8A-003B-4BA4-BC23-FE8D34171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22473-84BF-4C77-AFD4-046C6BE85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24DF86-E0D4-4538-AFA1-AED271584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1138E-74FF-41E0-819A-E7EBF9B25EF1}" type="datetimeFigureOut">
              <a:rPr lang="pt-BR" smtClean="0"/>
              <a:t>20/08/2019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31279-B56C-44DF-9503-B1B569194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A1116-A98D-488C-94B3-ECACB0D1E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9D60-07A1-432A-AD3E-1015B9504FF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8665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9FA4B-22FF-4337-947D-ADDF599DD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D2945-91D6-4662-8B8E-CA46B0585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1D065-60A2-4372-A891-B946A9A36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20AE60-A38D-430B-ACDE-1F12C24A97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895C5C-3B23-4214-9E17-28F9FFB13A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2EB39A-428B-4431-9300-F1DEC3566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1138E-74FF-41E0-819A-E7EBF9B25EF1}" type="datetimeFigureOut">
              <a:rPr lang="pt-BR" smtClean="0"/>
              <a:t>20/08/2019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334B40-09B5-499F-93FA-EE17E9D2D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5859BD-74C5-4479-B821-0FB4EE471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9D60-07A1-432A-AD3E-1015B9504FF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5086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31A9B-19CA-4CE8-850A-929EF3765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31F01F-89ED-4FA0-A93B-7EE9ECC48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1138E-74FF-41E0-819A-E7EBF9B25EF1}" type="datetimeFigureOut">
              <a:rPr lang="pt-BR" smtClean="0"/>
              <a:t>20/08/2019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A29F4-79D0-4256-9252-6FAA7D15C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4FD7E8-AB7F-42D7-AB40-82B03A282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9D60-07A1-432A-AD3E-1015B9504FF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3677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CC319F-32C9-45D5-8663-F97EAE19C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1138E-74FF-41E0-819A-E7EBF9B25EF1}" type="datetimeFigureOut">
              <a:rPr lang="pt-BR" smtClean="0"/>
              <a:t>20/08/2019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E7C968-CBBA-4CFD-B8F2-73B5D76E6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7F670-01E9-4FA3-96F4-8717E94C4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9D60-07A1-432A-AD3E-1015B9504FF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7917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0CD2C-C1BD-4ED2-982F-C1502A03F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FB087-1350-4BA8-A0EC-7AB33441B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FAA2B4-EA76-4171-BCF6-458B41673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4E218-91E5-4BD8-BB8E-342E71ED2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1138E-74FF-41E0-819A-E7EBF9B25EF1}" type="datetimeFigureOut">
              <a:rPr lang="pt-BR" smtClean="0"/>
              <a:t>20/08/2019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9A5E2-ED54-4A3E-B28B-B2BF5405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F8BF5-42FE-482B-8A3E-425A591E8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9D60-07A1-432A-AD3E-1015B9504FF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7174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38E2-2E5C-4C89-AE7D-5A5D68504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D04135-4E20-4EC0-A2D1-0BF6B95018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6769B-5181-4EC9-8F65-735653221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D4649-8F33-4E03-8120-F21226B6C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1138E-74FF-41E0-819A-E7EBF9B25EF1}" type="datetimeFigureOut">
              <a:rPr lang="pt-BR" smtClean="0"/>
              <a:t>20/08/2019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39E6C-0694-410B-9057-CBFE1A7CA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A3AAA-BD64-436F-8A8A-69BD15CDB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9D60-07A1-432A-AD3E-1015B9504FF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4719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7EA43-6E5D-42F3-AA89-A68293646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A2B768-6802-46AF-B73B-49D3E2951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E767-2A0A-4F0F-822E-4964F5F1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1138E-74FF-41E0-819A-E7EBF9B25EF1}" type="datetimeFigureOut">
              <a:rPr lang="pt-BR" smtClean="0"/>
              <a:t>20/08/2019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D23B3-F97F-44BC-B0F4-B58B7A062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A872F-06B6-45B0-8B53-44CFBF1C2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9D60-07A1-432A-AD3E-1015B9504FF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2952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93AA1-8EAF-4628-8896-58BE941D3A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B6CD26-247C-4E2D-948C-1C8DD8B96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37098-267A-48CF-B9C8-1B477E219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1138E-74FF-41E0-819A-E7EBF9B25EF1}" type="datetimeFigureOut">
              <a:rPr lang="pt-BR" smtClean="0"/>
              <a:t>20/08/2019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FDBBE-7842-439A-B11D-9BDB5FA9F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E05A2-D1F1-472C-9193-31B3C71EC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9D60-07A1-432A-AD3E-1015B9504FF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5126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2231BA-9838-43B3-A43B-6257F2BC3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E2C83-5E5A-4580-8B0A-690224CBB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F4D63-54DC-4B3C-BE29-3C1C1AF4D8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1138E-74FF-41E0-819A-E7EBF9B25EF1}" type="datetimeFigureOut">
              <a:rPr lang="pt-BR" smtClean="0"/>
              <a:t>20/08/2019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1FA73-1B3D-4FF0-9532-37AC298BC5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E9D0D-CFFD-4B50-BA41-8D9AF1DC1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59D60-07A1-432A-AD3E-1015B9504FF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324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enhuma descriÃ§Ã£o de foto disponÃ­vel.">
            <a:extLst>
              <a:ext uri="{FF2B5EF4-FFF2-40B4-BE49-F238E27FC236}">
                <a16:creationId xmlns:a16="http://schemas.microsoft.com/office/drawing/2014/main" id="{26915182-662C-4DDB-85FF-27C6E5B35C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06" b="28000"/>
          <a:stretch/>
        </p:blipFill>
        <p:spPr bwMode="auto">
          <a:xfrm>
            <a:off x="577508" y="1515794"/>
            <a:ext cx="5373126" cy="4928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1C2AF6-E2F0-4B3C-A94F-69580A49D34C}"/>
              </a:ext>
            </a:extLst>
          </p:cNvPr>
          <p:cNvSpPr txBox="1"/>
          <p:nvPr/>
        </p:nvSpPr>
        <p:spPr>
          <a:xfrm>
            <a:off x="577508" y="379828"/>
            <a:ext cx="10831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Exemplo de utilização de produto tensorial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DC82F-7E8A-4D33-A460-2CAB7A6C1D52}"/>
              </a:ext>
            </a:extLst>
          </p:cNvPr>
          <p:cNvSpPr txBox="1"/>
          <p:nvPr/>
        </p:nvSpPr>
        <p:spPr>
          <a:xfrm>
            <a:off x="6808763" y="1744394"/>
            <a:ext cx="35872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partir de uma matriz 1x2</a:t>
            </a:r>
          </a:p>
          <a:p>
            <a:endParaRPr lang="pt-BR" dirty="0"/>
          </a:p>
          <a:p>
            <a:r>
              <a:rPr lang="pt-BR" dirty="0"/>
              <a:t>[ 1 1 ]</a:t>
            </a:r>
          </a:p>
          <a:p>
            <a:endParaRPr lang="pt-BR" dirty="0"/>
          </a:p>
          <a:p>
            <a:r>
              <a:rPr lang="pt-BR" dirty="0"/>
              <a:t>Criar uma matriz 5x10 de acordo com a imagem ao lado</a:t>
            </a:r>
          </a:p>
        </p:txBody>
      </p:sp>
    </p:spTree>
    <p:extLst>
      <p:ext uri="{BB962C8B-B14F-4D97-AF65-F5344CB8AC3E}">
        <p14:creationId xmlns:p14="http://schemas.microsoft.com/office/powerpoint/2010/main" val="1918605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702B46-E695-481D-885C-245E8FD31A96}"/>
              </a:ext>
            </a:extLst>
          </p:cNvPr>
          <p:cNvSpPr/>
          <p:nvPr/>
        </p:nvSpPr>
        <p:spPr>
          <a:xfrm>
            <a:off x="726831" y="1266318"/>
            <a:ext cx="681345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0" i="0" dirty="0">
                <a:solidFill>
                  <a:srgbClr val="1C1E21"/>
                </a:solidFill>
                <a:effectLst/>
              </a:rPr>
              <a:t>x &lt;- c(1,1)</a:t>
            </a:r>
            <a:br>
              <a:rPr lang="pt-BR" sz="3200" b="0" i="0" dirty="0">
                <a:solidFill>
                  <a:srgbClr val="1C1E21"/>
                </a:solidFill>
                <a:effectLst/>
              </a:rPr>
            </a:br>
            <a:r>
              <a:rPr lang="pt-BR" sz="3200" b="0" i="0" dirty="0">
                <a:solidFill>
                  <a:srgbClr val="1C1E21"/>
                </a:solidFill>
                <a:effectLst/>
              </a:rPr>
              <a:t>n &lt;- length(x)</a:t>
            </a:r>
            <a:br>
              <a:rPr lang="pt-BR" sz="3200" b="0" i="0" dirty="0">
                <a:solidFill>
                  <a:srgbClr val="1C1E21"/>
                </a:solidFill>
                <a:effectLst/>
              </a:rPr>
            </a:br>
            <a:r>
              <a:rPr lang="pt-BR" sz="3200" b="0" i="0" dirty="0">
                <a:solidFill>
                  <a:srgbClr val="1C1E21"/>
                </a:solidFill>
                <a:effectLst/>
              </a:rPr>
              <a:t>k &lt;- 5</a:t>
            </a:r>
            <a:br>
              <a:rPr lang="pt-BR" sz="3200" b="0" i="0" dirty="0">
                <a:solidFill>
                  <a:srgbClr val="1C1E21"/>
                </a:solidFill>
                <a:effectLst/>
              </a:rPr>
            </a:br>
            <a:r>
              <a:rPr lang="pt-BR" sz="3200" b="0" i="0" dirty="0">
                <a:solidFill>
                  <a:srgbClr val="1C1E21"/>
                </a:solidFill>
                <a:effectLst/>
              </a:rPr>
              <a:t>res &lt;- matrix(0, ncol = k * n, nrow = k)</a:t>
            </a:r>
            <a:br>
              <a:rPr lang="pt-BR" sz="3200" b="0" i="0" dirty="0">
                <a:solidFill>
                  <a:srgbClr val="1C1E21"/>
                </a:solidFill>
                <a:effectLst/>
              </a:rPr>
            </a:br>
            <a:br>
              <a:rPr lang="pt-BR" sz="3200" b="0" i="0" dirty="0">
                <a:solidFill>
                  <a:srgbClr val="1C1E21"/>
                </a:solidFill>
                <a:effectLst/>
              </a:rPr>
            </a:br>
            <a:r>
              <a:rPr lang="pt-BR" sz="3200" b="0" i="0" dirty="0">
                <a:solidFill>
                  <a:srgbClr val="1C1E21"/>
                </a:solidFill>
                <a:effectLst/>
              </a:rPr>
              <a:t>for (i in 1:k){</a:t>
            </a:r>
            <a:br>
              <a:rPr lang="pt-BR" sz="3200" b="0" i="0" dirty="0">
                <a:solidFill>
                  <a:srgbClr val="1C1E21"/>
                </a:solidFill>
                <a:effectLst/>
              </a:rPr>
            </a:br>
            <a:br>
              <a:rPr lang="pt-BR" sz="3200" b="0" i="0" dirty="0">
                <a:solidFill>
                  <a:srgbClr val="1C1E21"/>
                </a:solidFill>
                <a:effectLst/>
              </a:rPr>
            </a:br>
            <a:r>
              <a:rPr lang="pt-BR" sz="3200" b="0" i="0" dirty="0">
                <a:solidFill>
                  <a:srgbClr val="1C1E21"/>
                </a:solidFill>
                <a:effectLst/>
              </a:rPr>
              <a:t>res[i,((i - 1)*n + 1):(i*n)] &lt;- x</a:t>
            </a:r>
            <a:br>
              <a:rPr lang="pt-BR" sz="3200" b="0" i="0" dirty="0">
                <a:solidFill>
                  <a:srgbClr val="1C1E21"/>
                </a:solidFill>
                <a:effectLst/>
              </a:rPr>
            </a:br>
            <a:br>
              <a:rPr lang="pt-BR" sz="3200" b="0" i="0" dirty="0">
                <a:solidFill>
                  <a:srgbClr val="1C1E21"/>
                </a:solidFill>
                <a:effectLst/>
              </a:rPr>
            </a:br>
            <a:r>
              <a:rPr lang="pt-BR" sz="3200" b="0" i="0" dirty="0">
                <a:solidFill>
                  <a:srgbClr val="1C1E21"/>
                </a:solidFill>
                <a:effectLst/>
              </a:rPr>
              <a:t>}</a:t>
            </a:r>
            <a:endParaRPr lang="pt-BR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5F7360-01D4-473F-949D-B3E2051F4DCC}"/>
              </a:ext>
            </a:extLst>
          </p:cNvPr>
          <p:cNvSpPr txBox="1"/>
          <p:nvPr/>
        </p:nvSpPr>
        <p:spPr>
          <a:xfrm>
            <a:off x="577508" y="379828"/>
            <a:ext cx="10831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Outra resposta (utilizando for)</a:t>
            </a:r>
          </a:p>
        </p:txBody>
      </p:sp>
    </p:spTree>
    <p:extLst>
      <p:ext uri="{BB962C8B-B14F-4D97-AF65-F5344CB8AC3E}">
        <p14:creationId xmlns:p14="http://schemas.microsoft.com/office/powerpoint/2010/main" val="2425678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92D565-E639-4FA8-8A4C-A5C5BC285CB8}"/>
              </a:ext>
            </a:extLst>
          </p:cNvPr>
          <p:cNvSpPr/>
          <p:nvPr/>
        </p:nvSpPr>
        <p:spPr>
          <a:xfrm>
            <a:off x="577508" y="1642795"/>
            <a:ext cx="3234837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1C1E21"/>
                </a:solidFill>
                <a:effectLst/>
              </a:rPr>
              <a:t>A &lt;- t(c(1,1))</a:t>
            </a:r>
            <a:br>
              <a:rPr lang="pt-BR" dirty="0"/>
            </a:br>
            <a:endParaRPr lang="pt-BR" dirty="0"/>
          </a:p>
          <a:p>
            <a:r>
              <a:rPr lang="pt-BR" b="0" i="0" dirty="0">
                <a:solidFill>
                  <a:srgbClr val="1C1E21"/>
                </a:solidFill>
                <a:effectLst/>
              </a:rPr>
              <a:t>diag(tamanho) %x% 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9C7D30-2340-491E-BB7B-9278E2006AD1}"/>
              </a:ext>
            </a:extLst>
          </p:cNvPr>
          <p:cNvSpPr txBox="1"/>
          <p:nvPr/>
        </p:nvSpPr>
        <p:spPr>
          <a:xfrm>
            <a:off x="577508" y="379828"/>
            <a:ext cx="10831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Solução (usando 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800292-4610-4FF0-B65F-AA5955885667}"/>
              </a:ext>
            </a:extLst>
          </p:cNvPr>
          <p:cNvSpPr/>
          <p:nvPr/>
        </p:nvSpPr>
        <p:spPr>
          <a:xfrm>
            <a:off x="577508" y="2813429"/>
            <a:ext cx="30433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0" i="0" dirty="0">
                <a:solidFill>
                  <a:srgbClr val="1C1E21"/>
                </a:solidFill>
                <a:effectLst/>
              </a:rPr>
              <a:t>%x% é o produto de kronecker</a:t>
            </a:r>
            <a:endParaRPr lang="pt-BR" dirty="0"/>
          </a:p>
        </p:txBody>
      </p:sp>
      <p:pic>
        <p:nvPicPr>
          <p:cNvPr id="2054" name="Picture 6" descr="https://latex.codecogs.com/gif.latex?%5Cbegin%7Bbmatrix%7D%201%20%26%200%20%26%200%20%26%200%20%26%200%20%5C%5C%200%20%26%201%20%26%200%20%26%200%20%26%200%20%5C%5C%200%20%26%200%20%26%201%20%26%200%20%26%200%20%5C%5C%200%20%26%200%20%26%200%20%26%201%20%26%200%20%5C%5C%200%20%26%200%20%26%200%20%26%200%20%26%201%20%5Cend%7Bbmatrix%7D%20%5Cotimes%20%5Cbegin%7Bbmatrix%7D%201%20%26%201%20%5Cend%7Bbmatrix%7D%20%3D%20%5Cbegin%7Bbmatrix%7D%201%20%26%201%20%26%200%20%26%200%20%26%200%20%26%200%20%26%200%20%26%200%20%26%200%20%26%200%20%5C%5C%200%20%26%201%20%26%200%20%26%200%20%26%200%20%26%200%20%26%200%20%26%200%20%26%200%20%26%200%20%5C%5C%200%20%26%200%20%26%201%20%26%200%20%26%200%20%26%200%20%26%200%20%26%200%20%26%200%20%26%200%20%5C%5C%200%20%26%200%20%26%200%20%26%200%20%26%200%20%26%200%20%26%201%20%26%201%20%26%200%20%26%200%20%5C%5C%200%20%26%200%20%26%200%20%26%200%20%26%200%20%26%200%20%26%200%20%26%200%20%26%201%20%26%201%20%5Cend%7Bbmatrix%7D">
            <a:extLst>
              <a:ext uri="{FF2B5EF4-FFF2-40B4-BE49-F238E27FC236}">
                <a16:creationId xmlns:a16="http://schemas.microsoft.com/office/drawing/2014/main" id="{27974716-FDBB-4A34-9F16-A3E31CF49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969" y="4023033"/>
            <a:ext cx="9988468" cy="2384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6614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E312B9-E1DC-4350-8069-58B0DF8D04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31" t="14946" r="29698" b="7056"/>
          <a:stretch/>
        </p:blipFill>
        <p:spPr>
          <a:xfrm>
            <a:off x="847583" y="151097"/>
            <a:ext cx="9126411" cy="689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616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E11895-7C1F-4AA9-B372-7E842C1E1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207092"/>
            <a:ext cx="10905066" cy="444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145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enhuma descriÃ§Ã£o de foto disponÃ­vel.">
            <a:extLst>
              <a:ext uri="{FF2B5EF4-FFF2-40B4-BE49-F238E27FC236}">
                <a16:creationId xmlns:a16="http://schemas.microsoft.com/office/drawing/2014/main" id="{8988193B-C66A-47E7-86FE-3F3C435D5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322" y="78548"/>
            <a:ext cx="4021473" cy="661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3701324-68A1-42B4-BB0B-C5CB586DB891}"/>
              </a:ext>
            </a:extLst>
          </p:cNvPr>
          <p:cNvSpPr/>
          <p:nvPr/>
        </p:nvSpPr>
        <p:spPr>
          <a:xfrm>
            <a:off x="277366" y="471382"/>
            <a:ext cx="298633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i="0" dirty="0">
                <a:solidFill>
                  <a:srgbClr val="1C1E21"/>
                </a:solidFill>
                <a:effectLst/>
              </a:rPr>
              <a:t>Aplicação</a:t>
            </a:r>
          </a:p>
          <a:p>
            <a:endParaRPr lang="pt-BR" dirty="0">
              <a:solidFill>
                <a:srgbClr val="1C1E21"/>
              </a:solidFill>
            </a:endParaRPr>
          </a:p>
          <a:p>
            <a:r>
              <a:rPr lang="pt-BR" b="0" i="0" dirty="0">
                <a:solidFill>
                  <a:srgbClr val="1C1E21"/>
                </a:solidFill>
                <a:effectLst/>
              </a:rPr>
              <a:t>Otimização por mínimos quadrados para estimar parâmetros demográficos em populações animais e humanas.</a:t>
            </a:r>
            <a:endParaRPr lang="pt-BR" dirty="0"/>
          </a:p>
        </p:txBody>
      </p:sp>
      <p:pic>
        <p:nvPicPr>
          <p:cNvPr id="6146" name="Picture 2" descr="Nenhuma descriÃ§Ã£o de foto disponÃ­vel.">
            <a:extLst>
              <a:ext uri="{FF2B5EF4-FFF2-40B4-BE49-F238E27FC236}">
                <a16:creationId xmlns:a16="http://schemas.microsoft.com/office/drawing/2014/main" id="{FA841713-B2BE-4283-B89F-EA12A9E05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054" y="106608"/>
            <a:ext cx="3905919" cy="6420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3661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75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Osvaldo Luiz dos Santos Pereira</dc:creator>
  <cp:lastModifiedBy>Osvaldo Luiz dos Santos Pereira</cp:lastModifiedBy>
  <cp:revision>3</cp:revision>
  <dcterms:created xsi:type="dcterms:W3CDTF">2019-08-20T17:14:17Z</dcterms:created>
  <dcterms:modified xsi:type="dcterms:W3CDTF">2019-08-20T17:45:25Z</dcterms:modified>
</cp:coreProperties>
</file>